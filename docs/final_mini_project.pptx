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6" r:id="rId9"/>
    <p:sldId id="267" r:id="rId10"/>
    <p:sldId id="268" r:id="rId11"/>
    <p:sldId id="269" r:id="rId12"/>
    <p:sldId id="273" r:id="rId13"/>
    <p:sldId id="265" r:id="rId14"/>
    <p:sldId id="271" r:id="rId15"/>
    <p:sldId id="275" r:id="rId16"/>
    <p:sldId id="276" r:id="rId17"/>
    <p:sldId id="272" r:id="rId18"/>
    <p:sldId id="274" r:id="rId19"/>
    <p:sldId id="26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QwuzUAOc1cB9nM4HePRx26O3k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9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2EE5E8-430B-4DDC-A6C1-23BFF62ECF60}">
  <a:tblStyle styleId="{C62EE5E8-430B-4DDC-A6C1-23BFF62ECF6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tcBdr/>
        <a:fill>
          <a:solidFill>
            <a:srgbClr val="F5D8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5D8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7"/>
    <p:restoredTop sz="92998" autoAdjust="0"/>
  </p:normalViewPr>
  <p:slideViewPr>
    <p:cSldViewPr snapToGrid="0">
      <p:cViewPr varScale="1">
        <p:scale>
          <a:sx n="63" d="100"/>
          <a:sy n="63" d="100"/>
        </p:scale>
        <p:origin x="6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Mini Project (ISP67)</a:t>
            </a:r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532046425000309" TargetMode="External"/><Relationship Id="rId2" Type="http://schemas.openxmlformats.org/officeDocument/2006/relationships/hyperlink" Target="https://www.sciencedirect.com/science/article/abs/pii/S001048252500443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487914" TargetMode="External"/><Relationship Id="rId2" Type="http://schemas.openxmlformats.org/officeDocument/2006/relationships/hyperlink" Target="https://link.springer.com/article/10.1007/s00521-025-10990-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74680942301056X" TargetMode="External"/><Relationship Id="rId2" Type="http://schemas.openxmlformats.org/officeDocument/2006/relationships/hyperlink" Target="https://ieeexplore.ieee.org/document/974676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ACCESS.2024.338383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MI.2025.11023456" TargetMode="External"/><Relationship Id="rId2" Type="http://schemas.openxmlformats.org/officeDocument/2006/relationships/hyperlink" Target="https://doi.org/10.1186/s43088-024-00534-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mpbiomed.2025.107456" TargetMode="External"/><Relationship Id="rId2" Type="http://schemas.openxmlformats.org/officeDocument/2006/relationships/hyperlink" Target="https://doi.org/10.1007/s00521-026-09234-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bi.2025.104801" TargetMode="External"/><Relationship Id="rId2" Type="http://schemas.openxmlformats.org/officeDocument/2006/relationships/hyperlink" Target="https://doi.org/10.1016/j.compbiomed.2025.11009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1017039" TargetMode="External"/><Relationship Id="rId5" Type="http://schemas.openxmlformats.org/officeDocument/2006/relationships/hyperlink" Target="https://ieee-dataport.org/documents/otitis-media-otoscopic-image-dataset" TargetMode="External"/><Relationship Id="rId4" Type="http://schemas.openxmlformats.org/officeDocument/2006/relationships/hyperlink" Target="https://doi.org/10.1007/s00521-025-10990-4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ucimachinelearning/otoscopic-image-dataset?utm_source=chatgpt.com" TargetMode="External"/><Relationship Id="rId3" Type="http://schemas.openxmlformats.org/officeDocument/2006/relationships/hyperlink" Target="https://doi.org/10.1007/s00521-024-10426-5" TargetMode="External"/><Relationship Id="rId7" Type="http://schemas.openxmlformats.org/officeDocument/2006/relationships/hyperlink" Target="https://doi.org/10.1016/j.compbiomed.2025.107456" TargetMode="External"/><Relationship Id="rId2" Type="http://schemas.openxmlformats.org/officeDocument/2006/relationships/hyperlink" Target="https://figshare.com/articles/dataset/Ear_imagery_database/1188663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00521-026-09234-1" TargetMode="External"/><Relationship Id="rId5" Type="http://schemas.openxmlformats.org/officeDocument/2006/relationships/hyperlink" Target="https://doi.org/10.1109/TMI.2025.11023456" TargetMode="External"/><Relationship Id="rId4" Type="http://schemas.openxmlformats.org/officeDocument/2006/relationships/hyperlink" Target="https://doi.org/10.1186/s43088-024-00534-5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body" idx="1"/>
          </p:nvPr>
        </p:nvSpPr>
        <p:spPr>
          <a:xfrm>
            <a:off x="1097279" y="3718560"/>
            <a:ext cx="4652357" cy="215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325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USN 		       Name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1MS23IS034             CHINMAYI SHETTY</a:t>
            </a: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1MS23IS044             HRISHIKA R</a:t>
            </a: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1MS23IS107             S YASHASWINI</a:t>
            </a: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1MS24IS404             BHOOMIKUMARI A</a:t>
            </a:r>
            <a:endParaRPr sz="6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body" idx="2"/>
          </p:nvPr>
        </p:nvSpPr>
        <p:spPr>
          <a:xfrm>
            <a:off x="7467600" y="4321629"/>
            <a:ext cx="3688079" cy="154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Guided By: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0">
              <a:spcBef>
                <a:spcPts val="1400"/>
              </a:spcBef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EVANGELINE 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-101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 "/>
            </a:pPr>
            <a:endParaRPr sz="1600"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b="1" dirty="0"/>
          </a:p>
        </p:txBody>
      </p:sp>
      <p:sp>
        <p:nvSpPr>
          <p:cNvPr id="109" name="Google Shape;109;p1"/>
          <p:cNvSpPr txBox="1">
            <a:spLocks noGrp="1"/>
          </p:cNvSpPr>
          <p:nvPr>
            <p:ph type="ftr" idx="11"/>
          </p:nvPr>
        </p:nvSpPr>
        <p:spPr>
          <a:xfrm>
            <a:off x="914400" y="6303819"/>
            <a:ext cx="9365673" cy="52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100"/>
              <a:t>Mini Project (ISP67)</a:t>
            </a:r>
            <a:endParaRPr sz="1100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1" name="Google Shape;111;p1" descr="C:\Users\Admin\Desktop\Logo_21.06.2017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769" y="198278"/>
            <a:ext cx="2119746" cy="85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5960224" y="563978"/>
            <a:ext cx="51954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 of Information Science &amp; Engineering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6;p1"/>
          <p:cNvSpPr txBox="1">
            <a:spLocks noGrp="1"/>
          </p:cNvSpPr>
          <p:nvPr>
            <p:ph type="title"/>
          </p:nvPr>
        </p:nvSpPr>
        <p:spPr>
          <a:xfrm>
            <a:off x="1154083" y="1767840"/>
            <a:ext cx="10058400" cy="10871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SzPts val="4800"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 Explainable AI Framework for Ear Disease Classification Using Otoscopic Images.”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4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8" name="Google Shape;118;p2"/>
          <p:cNvSpPr txBox="1">
            <a:spLocks noGrp="1"/>
          </p:cNvSpPr>
          <p:nvPr>
            <p:ph type="body" idx="1"/>
          </p:nvPr>
        </p:nvSpPr>
        <p:spPr>
          <a:xfrm>
            <a:off x="359230" y="4416137"/>
            <a:ext cx="10497090" cy="1365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747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br>
              <a:rPr lang="en-US" dirty="0"/>
            </a:br>
            <a:endParaRPr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Mini Project (ISP67)</a:t>
            </a:r>
            <a:endParaRPr dirty="0"/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243EB-F0C5-DE2C-E1E6-9CFEF5AE3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5734"/>
            <a:ext cx="12072257" cy="446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0107E5-A31A-2CD0-DCA3-F74F463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30" y="1743247"/>
            <a:ext cx="1127397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 diseases are common health conditions that affect people of all age groups and can lead to hearing difficulties and discomfort if left untreated.[1]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Diagnosis of ear disorders typically involves clinical evaluation of symptoms followed by examination of the ear using an otoscope.[2]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Machine Learning techniques have shown promising results in automating medical image classification tasks.[3][4]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models, especially Convolutional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eural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etworks, are widely used for analyzing medical images and assisting in disease detection.[4][5]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explores the application of multimodal AI techniques to support early screening and classification of ear diseases using both symptom of patients and otoscopic images.[2][12]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 and Scope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457200" lvl="0" indent="-330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dirty="0"/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Mini Project (ISP67)</a:t>
            </a:r>
            <a:endParaRPr dirty="0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728DF-F7F9-F7A9-C034-F1DFAFBC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71" y="1964588"/>
            <a:ext cx="1122317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 diseases are often diagnosed only after noticeable symptoms worsen, leading to delayed treatment and potential complications.[7]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AI-based ear disease detection systems rely on image-only classification and lack integration of early symptom-based screening.[4][5]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need for intelligent decision-support systems that resemble a physician’s decision making by combining symptom analysis and otoscopic examination.[12]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this project is to develop a multimodal explainable AI framework that integrates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structured symptom data and otoscopic images using late fusion, providing both accurate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interpretable results.[2][12]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Challenges and Issues</a:t>
            </a:r>
            <a:endParaRPr dirty="0"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dirty="0"/>
            </a:b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dirty="0"/>
          </a:p>
          <a:p>
            <a:pPr marL="457200" lvl="0" indent="-330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dirty="0"/>
          </a:p>
        </p:txBody>
      </p:sp>
      <p:sp>
        <p:nvSpPr>
          <p:cNvPr id="135" name="Google Shape;1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Mini Project (ISP67)</a:t>
            </a:r>
            <a:endParaRPr dirty="0"/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8D0907-5558-8AE5-90BD-39FDE07A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342" y="777054"/>
            <a:ext cx="1126202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 is a limited number of large datasets with well-labeled otoscopic images.[1][3]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 ear conditions often show similar visual signs, making it hard to classify them accurately[3][6].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 quality can vary because of poor lighting or different ways images are taken[5][8].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 challenging to combine symptom information with predictions based on images[2][12].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 deep learning systems used in medicine are not easy to understand or explain[10].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289177" cy="3063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AI-based ear disease detection systems rely on image-only classification and lack integration of patient-reported symptoms . Therefore, many systems do not provide interpretation. There is a need for a multimodal and explainable AI framework that combines symptom data and otoscopic images to improve early screening, diagnostic accuracy, and clinical reliability.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Mini Project (ISP67)</a:t>
            </a:r>
            <a:endParaRPr dirty="0"/>
          </a:p>
        </p:txBody>
      </p:sp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Objective</a:t>
            </a:r>
            <a:endParaRPr dirty="0"/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Mini Project (ISP67)</a:t>
            </a:r>
            <a:endParaRPr dirty="0"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F076B8-56FD-9642-12F8-E5EAA8F4C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7280" y="2055671"/>
            <a:ext cx="89969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AI framework that integrates patient-reported symptoms and otoscopic images for accurate ear disease classification.</a:t>
            </a:r>
            <a:r>
              <a:rPr lang="en-US" dirty="0"/>
              <a:t> [2][12].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explainable AI techniques that enhance transparency and improve clinical reliability in automated ear disease detection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developed system using relevant performance measures[1][6].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FB24-2F7D-4408-485E-CF9C6497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199" y="0"/>
            <a:ext cx="5092689" cy="5080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E0979-8FD2-5875-2A72-0FFF6B593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ECB08-6EA2-04D5-59D2-02F31DA4E5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788A9-5A50-9D88-DC1C-B67D9ACFC2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B956ED-8373-606F-16D3-DE7C8E9CC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477817"/>
              </p:ext>
            </p:extLst>
          </p:nvPr>
        </p:nvGraphicFramePr>
        <p:xfrm>
          <a:off x="0" y="508001"/>
          <a:ext cx="12191999" cy="6522720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126342400"/>
                    </a:ext>
                  </a:extLst>
                </a:gridCol>
                <a:gridCol w="4102101">
                  <a:extLst>
                    <a:ext uri="{9D8B030D-6E8A-4147-A177-3AD203B41FA5}">
                      <a16:colId xmlns:a16="http://schemas.microsoft.com/office/drawing/2014/main" val="167673688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508060242"/>
                    </a:ext>
                  </a:extLst>
                </a:gridCol>
                <a:gridCol w="1714498">
                  <a:extLst>
                    <a:ext uri="{9D8B030D-6E8A-4147-A177-3AD203B41FA5}">
                      <a16:colId xmlns:a16="http://schemas.microsoft.com/office/drawing/2014/main" val="1014956177"/>
                    </a:ext>
                  </a:extLst>
                </a:gridCol>
                <a:gridCol w="2082802">
                  <a:extLst>
                    <a:ext uri="{9D8B030D-6E8A-4147-A177-3AD203B41FA5}">
                      <a16:colId xmlns:a16="http://schemas.microsoft.com/office/drawing/2014/main" val="1435528580"/>
                    </a:ext>
                  </a:extLst>
                </a:gridCol>
                <a:gridCol w="1981198">
                  <a:extLst>
                    <a:ext uri="{9D8B030D-6E8A-4147-A177-3AD203B41FA5}">
                      <a16:colId xmlns:a16="http://schemas.microsoft.com/office/drawing/2014/main" val="333283049"/>
                    </a:ext>
                  </a:extLst>
                </a:gridCol>
              </a:tblGrid>
              <a:tr h="126628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 &amp; Citation Link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 tools used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204487"/>
                  </a:ext>
                </a:extLst>
              </a:tr>
              <a:tr h="2639059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ensemble classifier using Bayesian optimization for the detection of ear diseases (2025). [1]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https://www.sciencedirect.com/science/article/abs/pii/S0010482525004433</a:t>
                      </a:r>
                      <a:endParaRPr lang="en-US" sz="2000" b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 with hyperparameter optimization.</a:t>
                      </a:r>
                      <a:endParaRPr lang="en-US" sz="20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  <a:p>
                      <a:pPr algn="just"/>
                      <a:endParaRPr 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otoscopic ear image dataset of 880 images.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by 5% through parameter tuning.</a:t>
                      </a:r>
                    </a:p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GradCAM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 for explainability.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integrate patient symptoms; lacks multimodal design.</a:t>
                      </a:r>
                      <a:endParaRPr lang="en-US" sz="20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5920"/>
                  </a:ext>
                </a:extLst>
              </a:tr>
              <a:tr h="2444223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multimodal machine learning algorithm improved diagnostic accuracy for otitis media in a school aged Aboriginal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population.(2025)[2]. 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  <a:hlinkClick r:id="rId3"/>
                        </a:rPr>
                        <a:t>https://www.sciencedirect.com/science/article/pii/</a:t>
                      </a:r>
                      <a:r>
                        <a:rPr lang="en-US" sz="20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  <a:hlinkClick r:id="rId3"/>
                        </a:rPr>
                        <a:t>S1532046425000309</a:t>
                      </a:r>
                      <a:endParaRPr lang="en-US" sz="20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otoscopic image data + tympanometry; Support Vector Machine (SVM) ML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clinical dataset containing matched video otoscopy and tympanometry data.</a:t>
                      </a:r>
                      <a:endParaRPr lang="en-US" sz="20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showed improved accuracy of 98%.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interpretability.</a:t>
                      </a:r>
                    </a:p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 publicly accessible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tympanometric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datasets.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058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72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0B80-F5C7-6A17-611E-D90A3EA2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C562C-FC53-1286-373A-6172B189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39A01-8D2F-60D2-E221-A09C25961F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3F841-E057-1B56-5E59-F654CCF9D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0128A6-ABCC-05B7-5642-C83994160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863698"/>
              </p:ext>
            </p:extLst>
          </p:nvPr>
        </p:nvGraphicFramePr>
        <p:xfrm>
          <a:off x="0" y="33090"/>
          <a:ext cx="12191999" cy="8037820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564658">
                  <a:extLst>
                    <a:ext uri="{9D8B030D-6E8A-4147-A177-3AD203B41FA5}">
                      <a16:colId xmlns:a16="http://schemas.microsoft.com/office/drawing/2014/main" val="1877560136"/>
                    </a:ext>
                  </a:extLst>
                </a:gridCol>
                <a:gridCol w="3499341">
                  <a:extLst>
                    <a:ext uri="{9D8B030D-6E8A-4147-A177-3AD203B41FA5}">
                      <a16:colId xmlns:a16="http://schemas.microsoft.com/office/drawing/2014/main" val="3390768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03773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13223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06772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0070342"/>
                    </a:ext>
                  </a:extLst>
                </a:gridCol>
              </a:tblGrid>
              <a:tr h="185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 &amp; Citation Link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 tools used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94414"/>
                  </a:ext>
                </a:extLst>
              </a:tr>
              <a:tr h="139988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Enhancing intra-aural disease classification with attention-based deep learning models.[2025][3].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https://link.springer.com/article/10.1007/s00521-025-10990-4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used as feature extractor; features classified using machine learning algorithms 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SVM, Random Forest).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Otoscopic image dataset containing 880 eardrum images categorized into CSOM, earwax,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myringosclerosis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normal.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feature extraction combined with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achieved 99% accuracy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demonstrating strong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image-based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diagnosis.Limited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explainability.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50870"/>
                  </a:ext>
                </a:extLst>
              </a:tr>
              <a:tr h="304569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Ear Disease Classification Using Deep Learning Techniques (2024)[4] </a:t>
                      </a:r>
                      <a:b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https://ieeexplore.ieee.org/document/10487914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deep learning model for otoscopic image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otoscopic ear image dataset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(multi-class ear disease images).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classification accuracy using deep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interpretability,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unimodal.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2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9FA7-F2EB-CDA0-3959-FDF46285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8DE0-0060-5C36-DE53-EADDF997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25DFB-3760-6B46-19D9-61E11104E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093-3C37-622F-EE90-29BEBAB254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24AF3-F111-FEF3-8C35-F5E0113A6A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C6AAD1-BFE1-A045-6308-4EA120FFF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55696"/>
              </p:ext>
            </p:extLst>
          </p:nvPr>
        </p:nvGraphicFramePr>
        <p:xfrm>
          <a:off x="30480" y="-145637"/>
          <a:ext cx="12192000" cy="6549547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565888">
                  <a:extLst>
                    <a:ext uri="{9D8B030D-6E8A-4147-A177-3AD203B41FA5}">
                      <a16:colId xmlns:a16="http://schemas.microsoft.com/office/drawing/2014/main" val="1877560136"/>
                    </a:ext>
                  </a:extLst>
                </a:gridCol>
                <a:gridCol w="3506966">
                  <a:extLst>
                    <a:ext uri="{9D8B030D-6E8A-4147-A177-3AD203B41FA5}">
                      <a16:colId xmlns:a16="http://schemas.microsoft.com/office/drawing/2014/main" val="3390768212"/>
                    </a:ext>
                  </a:extLst>
                </a:gridCol>
                <a:gridCol w="2036426">
                  <a:extLst>
                    <a:ext uri="{9D8B030D-6E8A-4147-A177-3AD203B41FA5}">
                      <a16:colId xmlns:a16="http://schemas.microsoft.com/office/drawing/2014/main" val="410377317"/>
                    </a:ext>
                  </a:extLst>
                </a:gridCol>
                <a:gridCol w="2036426">
                  <a:extLst>
                    <a:ext uri="{9D8B030D-6E8A-4147-A177-3AD203B41FA5}">
                      <a16:colId xmlns:a16="http://schemas.microsoft.com/office/drawing/2014/main" val="741322341"/>
                    </a:ext>
                  </a:extLst>
                </a:gridCol>
                <a:gridCol w="2036426">
                  <a:extLst>
                    <a:ext uri="{9D8B030D-6E8A-4147-A177-3AD203B41FA5}">
                      <a16:colId xmlns:a16="http://schemas.microsoft.com/office/drawing/2014/main" val="1500677243"/>
                    </a:ext>
                  </a:extLst>
                </a:gridCol>
                <a:gridCol w="2009868">
                  <a:extLst>
                    <a:ext uri="{9D8B030D-6E8A-4147-A177-3AD203B41FA5}">
                      <a16:colId xmlns:a16="http://schemas.microsoft.com/office/drawing/2014/main" val="1520070342"/>
                    </a:ext>
                  </a:extLst>
                </a:gridCol>
              </a:tblGrid>
              <a:tr h="14898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 err="1"/>
                        <a:t>Sl</a:t>
                      </a:r>
                      <a:r>
                        <a:rPr lang="en-US" sz="1400" u="none" strike="noStrike" cap="none" dirty="0"/>
                        <a:t> No</a:t>
                      </a:r>
                      <a:endParaRPr lang="en-US" sz="14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Title of Paper &amp; Citation Link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Methodology/ tools used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Datasets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Observation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Limitations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94414"/>
                  </a:ext>
                </a:extLst>
              </a:tr>
              <a:tr h="2399555">
                <a:tc>
                  <a:txBody>
                    <a:bodyPr/>
                    <a:lstStyle/>
                    <a:p>
                      <a:r>
                        <a:rPr lang="en-US" sz="20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Automated Detection of Middle Ear Abnormalities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(IEEE, 2024).[5]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https://ieeexplore.ieee.org/document/9746764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Convolutional Neural Network (DCNN) for automated middle ear abnormality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 otoscopic image dataset (normal and pathological cases).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detection accuracy (~96–98%); CNN effectively extracted disease-specific visual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Image-only system; no patient symptom data integration; no Explainable AI framework for clinical interpretation.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50870"/>
                  </a:ext>
                </a:extLst>
              </a:tr>
              <a:tr h="2480077">
                <a:tc>
                  <a:txBody>
                    <a:bodyPr/>
                    <a:lstStyle/>
                    <a:p>
                      <a:r>
                        <a:rPr lang="en-US" sz="20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Multi-Modal Multi-Fusion Model Using Endoscopic Images and Pure-Tone Audiometry (ScienceDirect, 2024).[6]</a:t>
                      </a:r>
                    </a:p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https://www.sciencedirect.com/science/article/pii/S174680942301056X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Multi-Fusion (MMMF) combining EfficientNet-B7 images and MLP hearing test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1,480 images paired with numerical Pure-Tone Audiometry (PTA)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Fusing hearing tests with images identified ear conditions where the eardrum appears visually normal.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Fails to diagnose functional hearing loss when using image-only (unimodal)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076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25F9-17DC-D209-13E0-FC4647E0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7F01-2A94-CFE5-1231-F4FC3D2C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940E3-DE10-1552-D869-5C9FBACA3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4B771-023A-0626-92E8-543F9645A4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1B64C-1097-72B0-42D1-F85F3DE094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AD27DA-50D6-784C-1EE4-90EDA4C88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72224"/>
              </p:ext>
            </p:extLst>
          </p:nvPr>
        </p:nvGraphicFramePr>
        <p:xfrm>
          <a:off x="0" y="33091"/>
          <a:ext cx="12192000" cy="6436103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564657">
                  <a:extLst>
                    <a:ext uri="{9D8B030D-6E8A-4147-A177-3AD203B41FA5}">
                      <a16:colId xmlns:a16="http://schemas.microsoft.com/office/drawing/2014/main" val="1877560136"/>
                    </a:ext>
                  </a:extLst>
                </a:gridCol>
                <a:gridCol w="3499343">
                  <a:extLst>
                    <a:ext uri="{9D8B030D-6E8A-4147-A177-3AD203B41FA5}">
                      <a16:colId xmlns:a16="http://schemas.microsoft.com/office/drawing/2014/main" val="3390768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03773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13223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06772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0070342"/>
                    </a:ext>
                  </a:extLst>
                </a:gridCol>
              </a:tblGrid>
              <a:tr h="858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 err="1"/>
                        <a:t>Sl</a:t>
                      </a:r>
                      <a:r>
                        <a:rPr lang="en-US" sz="1400" u="none" strike="noStrike" cap="none" dirty="0"/>
                        <a:t> No</a:t>
                      </a:r>
                      <a:endParaRPr lang="en-US" sz="14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Title of Paper &amp; Citation Link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Methodology/ tools used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Datasets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Observation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Limitations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94414"/>
                  </a:ext>
                </a:extLst>
              </a:tr>
              <a:tr h="2167856">
                <a:tc>
                  <a:txBody>
                    <a:bodyPr/>
                    <a:lstStyle/>
                    <a:p>
                      <a:r>
                        <a:rPr lang="en-US" sz="20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Transfer Learning for Automated Otitis Media Detection (IEEE , 2024).[7]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https://doi.org/10.1109/ACCESS.2024.3383835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using ResNet50 and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multi-class ear disease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Otoscopy Dataset (Ear Imagery Database – 880 images).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significantly improved accuracy compared to training from scratch.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Image-only model; lacks multimodal symptom integration and XAI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50870"/>
                  </a:ext>
                </a:extLst>
              </a:tr>
              <a:tr h="2928951">
                <a:tc>
                  <a:txBody>
                    <a:bodyPr/>
                    <a:lstStyle/>
                    <a:p>
                      <a:r>
                        <a:rPr lang="en-US" sz="20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Machine Learning and Edge Computing for Ear Disease Diagnosis (Springer, 2025)[8]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u="sng" dirty="0">
                          <a:solidFill>
                            <a:srgbClr val="2998E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</a:t>
                      </a:r>
                      <a:r>
                        <a:rPr lang="en-US" sz="2000" u="sng" dirty="0" err="1">
                          <a:solidFill>
                            <a:srgbClr val="2998E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doi.org</a:t>
                      </a:r>
                      <a:r>
                        <a:rPr lang="en-US" sz="2000" u="sng" dirty="0">
                          <a:solidFill>
                            <a:srgbClr val="2998E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/10.1007/s00521-024-10426-5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EfficientNetB5 CNN deployed on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Rockchip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RK3566 edge device with data augmentation and Group Normalization.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2003 otoscopic images (COM, Earwax,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Myringosclerosis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Normal, OME) compiled from 3 open-access datasets.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Edge-based digital otoscope achieved reliable real-time ear disease classification.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multimodal symptom integration; performance drops slightly on low-resource hardware.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8431"/>
                  </a:ext>
                </a:extLst>
              </a:tr>
              <a:tr h="2928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85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195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808965"/>
              </p:ext>
            </p:extLst>
          </p:nvPr>
        </p:nvGraphicFramePr>
        <p:xfrm>
          <a:off x="0" y="1"/>
          <a:ext cx="12192002" cy="6995486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512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7086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Title of Paper &amp; Citation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Methodology/ tools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r>
                        <a:rPr lang="en-US" sz="20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 Ear-Acquired Cholesteatoma Diagnosis Based on CT Scan Image Mining Using Supervised Machine Learning Models (</a:t>
                      </a:r>
                      <a:r>
                        <a:rPr lang="en-US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SpringerOpen</a:t>
                      </a: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Beni-Suef Univ J Basic Appl Sci, 2024)[9]</a:t>
                      </a:r>
                    </a:p>
                    <a:p>
                      <a:r>
                        <a:rPr lang="en-US" sz="2000" i="0" u="sng" dirty="0">
                          <a:solidFill>
                            <a:srgbClr val="2998E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https://doi.org/10.1186/s43088-024-00534-5</a:t>
                      </a:r>
                      <a:endParaRPr lang="en-US" sz="2000" i="0" u="sng" dirty="0">
                        <a:solidFill>
                          <a:srgbClr val="2998E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i="0" u="sng" dirty="0">
                        <a:solidFill>
                          <a:srgbClr val="2998E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embedding with pre-trained Inception V3 + classification using SVM, k-NN, neural network, and random forest.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bone CT scan images from 122 cholesteatoma patients and 115 chronic suppurative otitis media (CSOM) controls.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network, SVM, and k-NN achieved high performance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mining on CT scans only; lacks multimodal integration (symptoms, audiometry) and explainable AI.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061299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r>
                        <a:rPr lang="en-US" sz="20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Deep Learning Framework for Otoscopic Image Classification(IEEE,2025).[10]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https://doi.org/10.1109/TMI.2025.11023456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Grad-CAM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 Imagery Database (880 otoscopic images).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interpretable visual explanations for otitis media classification.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image-based diagnosis; no multimodal integration.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4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C68CF-6F4F-4584-A13E-828DE1E361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D6FB0-2280-4CAA-B6B0-EA523CF9F1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6E39E9-93C7-4469-9BAF-7DF380F9A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02434"/>
              </p:ext>
            </p:extLst>
          </p:nvPr>
        </p:nvGraphicFramePr>
        <p:xfrm>
          <a:off x="0" y="33091"/>
          <a:ext cx="12192000" cy="6331851"/>
        </p:xfrm>
        <a:graphic>
          <a:graphicData uri="http://schemas.openxmlformats.org/drawingml/2006/table">
            <a:tbl>
              <a:tblPr firstRow="1" bandRow="1">
                <a:tableStyleId>{C62EE5E8-430B-4DDC-A6C1-23BFF62ECF60}</a:tableStyleId>
              </a:tblPr>
              <a:tblGrid>
                <a:gridCol w="564657">
                  <a:extLst>
                    <a:ext uri="{9D8B030D-6E8A-4147-A177-3AD203B41FA5}">
                      <a16:colId xmlns:a16="http://schemas.microsoft.com/office/drawing/2014/main" val="1877560136"/>
                    </a:ext>
                  </a:extLst>
                </a:gridCol>
                <a:gridCol w="3499343">
                  <a:extLst>
                    <a:ext uri="{9D8B030D-6E8A-4147-A177-3AD203B41FA5}">
                      <a16:colId xmlns:a16="http://schemas.microsoft.com/office/drawing/2014/main" val="3390768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03773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13223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06772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0070342"/>
                    </a:ext>
                  </a:extLst>
                </a:gridCol>
              </a:tblGrid>
              <a:tr h="9125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 err="1"/>
                        <a:t>Sl</a:t>
                      </a:r>
                      <a:r>
                        <a:rPr lang="en-US" sz="1400" u="none" strike="noStrike" cap="none" dirty="0"/>
                        <a:t> No</a:t>
                      </a:r>
                      <a:endParaRPr lang="en-US" sz="14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Title of Paper &amp; Citation Link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Methodology/ tools used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Datasets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Observation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Limitations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94414"/>
                  </a:ext>
                </a:extLst>
              </a:tr>
              <a:tr h="230501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Vision Transformer and CNN for Middle Ear Disease Detection (Springer, 2026).[11]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https://doi.org/10.1007/s00521-026-09234-1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+ CNN fusion.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middle ear dataset (~1,500 images).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feature extraction and classification accuracy.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datasets; limited clinical validation.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50870"/>
                  </a:ext>
                </a:extLst>
              </a:tr>
              <a:tr h="311426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AI for Pediatric Otitis Media Diagnosis Using Otoscopy and Symptom Data (ScienceDirect,2025).[12]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https://doi.org/10.1016/j.compbiomed.2025.107456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for images + Random Forest for symptoms.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Pediatric otoscopy dataset (~1,200 images + symptom records).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patient symptoms with otoscopic images for better diagnostic accuracy.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size;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not fully implemented.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31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Methodology/Design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Mini Project (ISP67)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F21C9C-F254-398A-6E36-8A7A43DC4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653330"/>
            <a:ext cx="1129937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1.Data Preparation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 and preprocessing of otoscopic images and structured symptom data.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preprocessing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included,data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,encoding ,handling missing values.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included,resizing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,normalization ,data augmentation.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2.Symptom-Based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 Random Forest model to generate disease probability scores from patient-reported symptoms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mage-Based Classification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Fine-tuning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transfer learning for multi-class ear disease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4.Multimodal Late Fusion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probability outputs from both models using decision-level weighted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5.Explainable Output Generation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SHAP for symptom interpretation and Grad-CAM for visual explanation of image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779455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5BEB-B345-0E3B-CE69-363F98C3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DC0D-EBD0-9457-C790-D333A2A7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82" y="319698"/>
            <a:ext cx="10058400" cy="945108"/>
          </a:xfrm>
        </p:spPr>
        <p:txBody>
          <a:bodyPr/>
          <a:lstStyle/>
          <a:p>
            <a:r>
              <a:rPr lang="en-US" dirty="0"/>
              <a:t>Methodology/Design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4986-5858-A24B-4FC7-3D14597B8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D5DD6-8FBD-26A9-A512-D3C3AB12D1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Mini Project (ISP67)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3EED06-6251-0EB8-B0A1-72D629ABB96A}"/>
              </a:ext>
            </a:extLst>
          </p:cNvPr>
          <p:cNvSpPr/>
          <p:nvPr/>
        </p:nvSpPr>
        <p:spPr>
          <a:xfrm>
            <a:off x="307910" y="3191069"/>
            <a:ext cx="1631301" cy="8213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EEF10-067B-5C30-E18E-620A7173EB46}"/>
              </a:ext>
            </a:extLst>
          </p:cNvPr>
          <p:cNvSpPr txBox="1"/>
          <p:nvPr/>
        </p:nvSpPr>
        <p:spPr>
          <a:xfrm>
            <a:off x="307910" y="3426155"/>
            <a:ext cx="1863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037D0C-143A-5883-4F5C-7003642AA1A5}"/>
              </a:ext>
            </a:extLst>
          </p:cNvPr>
          <p:cNvCxnSpPr>
            <a:cxnSpLocks/>
          </p:cNvCxnSpPr>
          <p:nvPr/>
        </p:nvCxnSpPr>
        <p:spPr>
          <a:xfrm flipV="1">
            <a:off x="1953203" y="2810082"/>
            <a:ext cx="690466" cy="7619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262F4D-0552-CCBD-56D4-49D3989AD135}"/>
              </a:ext>
            </a:extLst>
          </p:cNvPr>
          <p:cNvCxnSpPr>
            <a:cxnSpLocks/>
          </p:cNvCxnSpPr>
          <p:nvPr/>
        </p:nvCxnSpPr>
        <p:spPr>
          <a:xfrm>
            <a:off x="1963615" y="3627119"/>
            <a:ext cx="650031" cy="821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C54E6C-A8D4-F49C-FB5D-658512DEF260}"/>
              </a:ext>
            </a:extLst>
          </p:cNvPr>
          <p:cNvSpPr/>
          <p:nvPr/>
        </p:nvSpPr>
        <p:spPr>
          <a:xfrm>
            <a:off x="2643669" y="1812589"/>
            <a:ext cx="2441515" cy="160560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24EED-F417-2074-F356-94A3C36141F4}"/>
              </a:ext>
            </a:extLst>
          </p:cNvPr>
          <p:cNvSpPr txBox="1"/>
          <p:nvPr/>
        </p:nvSpPr>
        <p:spPr>
          <a:xfrm>
            <a:off x="2657661" y="2058264"/>
            <a:ext cx="2595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based prediction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Symptom data preprocessing.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Random Forest Model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Symptom Probability Score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A23F54-0D9B-A4B6-EA3E-475E4CE0AD65}"/>
              </a:ext>
            </a:extLst>
          </p:cNvPr>
          <p:cNvSpPr/>
          <p:nvPr/>
        </p:nvSpPr>
        <p:spPr>
          <a:xfrm>
            <a:off x="2598571" y="4097472"/>
            <a:ext cx="2441514" cy="16888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66F01F-199F-38EB-87BC-1E78EFDEE503}"/>
              </a:ext>
            </a:extLst>
          </p:cNvPr>
          <p:cNvSpPr txBox="1"/>
          <p:nvPr/>
        </p:nvSpPr>
        <p:spPr>
          <a:xfrm>
            <a:off x="2636973" y="4263653"/>
            <a:ext cx="24031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Classification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Image data preprocessing.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Image based classification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Image probability score.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B17F6A-7195-5764-54C8-C7E46B17C0AC}"/>
              </a:ext>
            </a:extLst>
          </p:cNvPr>
          <p:cNvCxnSpPr>
            <a:cxnSpLocks/>
          </p:cNvCxnSpPr>
          <p:nvPr/>
        </p:nvCxnSpPr>
        <p:spPr>
          <a:xfrm>
            <a:off x="5099176" y="2841817"/>
            <a:ext cx="647708" cy="5983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5F036B-7FD4-FC85-EAEE-87398013E774}"/>
              </a:ext>
            </a:extLst>
          </p:cNvPr>
          <p:cNvCxnSpPr>
            <a:cxnSpLocks/>
          </p:cNvCxnSpPr>
          <p:nvPr/>
        </p:nvCxnSpPr>
        <p:spPr>
          <a:xfrm flipV="1">
            <a:off x="5067390" y="3868038"/>
            <a:ext cx="634956" cy="826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639421-39D6-FF5F-39B7-F11A26762E22}"/>
              </a:ext>
            </a:extLst>
          </p:cNvPr>
          <p:cNvSpPr/>
          <p:nvPr/>
        </p:nvSpPr>
        <p:spPr>
          <a:xfrm>
            <a:off x="5778756" y="3248554"/>
            <a:ext cx="2114941" cy="8666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D8F053-3657-08C5-5EDE-07685C6BD3FF}"/>
              </a:ext>
            </a:extLst>
          </p:cNvPr>
          <p:cNvSpPr txBox="1"/>
          <p:nvPr/>
        </p:nvSpPr>
        <p:spPr>
          <a:xfrm>
            <a:off x="5655432" y="3298910"/>
            <a:ext cx="25539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Late Fusion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Weighted Fusion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9CD8B0-1799-26FF-BA0B-B30F4777C439}"/>
              </a:ext>
            </a:extLst>
          </p:cNvPr>
          <p:cNvCxnSpPr>
            <a:cxnSpLocks/>
          </p:cNvCxnSpPr>
          <p:nvPr/>
        </p:nvCxnSpPr>
        <p:spPr>
          <a:xfrm>
            <a:off x="7940351" y="3627119"/>
            <a:ext cx="3545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8F4C287-ABF6-BF23-A964-F19214512680}"/>
              </a:ext>
            </a:extLst>
          </p:cNvPr>
          <p:cNvSpPr/>
          <p:nvPr/>
        </p:nvSpPr>
        <p:spPr>
          <a:xfrm>
            <a:off x="8294914" y="2336778"/>
            <a:ext cx="2024743" cy="24632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D75B3A-4C8B-ED7B-F159-1E5B609729A8}"/>
              </a:ext>
            </a:extLst>
          </p:cNvPr>
          <p:cNvSpPr txBox="1"/>
          <p:nvPr/>
        </p:nvSpPr>
        <p:spPr>
          <a:xfrm>
            <a:off x="8341568" y="2480080"/>
            <a:ext cx="1978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Output Generation</a:t>
            </a:r>
          </a:p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&amp; GRAD-CAM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Symptoms Insights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Visual Highlights And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LLM 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2D847C0-22AE-183B-5EAD-9E7F73EA9B28}"/>
              </a:ext>
            </a:extLst>
          </p:cNvPr>
          <p:cNvCxnSpPr>
            <a:cxnSpLocks/>
          </p:cNvCxnSpPr>
          <p:nvPr/>
        </p:nvCxnSpPr>
        <p:spPr>
          <a:xfrm>
            <a:off x="10319658" y="3568418"/>
            <a:ext cx="3047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7B82F4E-A4F4-FD35-8232-44F02540BE52}"/>
              </a:ext>
            </a:extLst>
          </p:cNvPr>
          <p:cNvSpPr/>
          <p:nvPr/>
        </p:nvSpPr>
        <p:spPr>
          <a:xfrm>
            <a:off x="10624456" y="3255786"/>
            <a:ext cx="1500192" cy="50341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14EFC9-8E07-98B0-9B04-EDFCAE8FD922}"/>
              </a:ext>
            </a:extLst>
          </p:cNvPr>
          <p:cNvSpPr txBox="1"/>
          <p:nvPr/>
        </p:nvSpPr>
        <p:spPr>
          <a:xfrm>
            <a:off x="10621198" y="3337061"/>
            <a:ext cx="156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Diagnosis</a:t>
            </a:r>
          </a:p>
        </p:txBody>
      </p:sp>
    </p:spTree>
    <p:extLst>
      <p:ext uri="{BB962C8B-B14F-4D97-AF65-F5344CB8AC3E}">
        <p14:creationId xmlns:p14="http://schemas.microsoft.com/office/powerpoint/2010/main" val="34955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B78F-D007-F4ED-B6DB-0AD273C0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62000"/>
            <a:ext cx="10058400" cy="975360"/>
          </a:xfrm>
        </p:spPr>
        <p:txBody>
          <a:bodyPr/>
          <a:lstStyle/>
          <a:p>
            <a:r>
              <a:rPr lang="en-US" dirty="0"/>
              <a:t>RESULTS AND DISCUSSIONS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C494F-DC11-D125-1B96-9696C63D15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59983-2832-9D77-5508-A32CEE1D5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47EB47-A3E9-E36A-1AA2-C8B2281B8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7280" y="1984547"/>
            <a:ext cx="10363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 image classification performance (97.5%).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achieved the highest accuracy (98.3%).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symptoms and images improved diagnostic reliability.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identified important symptoms affecting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highlighted disease-relevant regions in otoscopic images.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generated human-readable clinical explanations. </a:t>
            </a:r>
          </a:p>
        </p:txBody>
      </p:sp>
    </p:spTree>
    <p:extLst>
      <p:ext uri="{BB962C8B-B14F-4D97-AF65-F5344CB8AC3E}">
        <p14:creationId xmlns:p14="http://schemas.microsoft.com/office/powerpoint/2010/main" val="3960178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924C-778F-87D6-9884-8366DEF20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BB474-663F-D2F2-498E-269BEBDBC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360" y="1845734"/>
            <a:ext cx="10434320" cy="4057226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achieved 98% Accuracy, 98% Precision, 98% Recall, and 98% F1-Score.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better performance than traditional single-modality (image-only) approaches.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larger and more diverse datasets to improve robustness and generalization.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versions can incorporate audiometry reports, hearing assessment records, and patient history for richer multimodal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integration with hospital information systems and clinical decision-support platforms.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deployed on cloud platforms for scalability, accessibility, and remote diagnosis.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explanations can be enhanced using domain-specific medical knowledge bases.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can be adapted into mobile and web-based healthcare applications for real-time screening and telemedicine support.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strong potential to serve as an AI-assisted clinical decision support system for early ear disease detection and diagnosis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35AF7-4394-2D86-114A-C1E8FA8F4A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CEDAA-5A02-E647-5AA3-DD54AB7ADB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2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2652-922B-B54F-5F5B-A2DA39A3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80" y="111760"/>
            <a:ext cx="10566400" cy="1513839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43EA2-015B-C66E-E435-A73ED302D4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DDDD9-D129-89C3-E200-960F76968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8B3144F-9069-5244-3EFD-99F0E6262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2623" y="2080466"/>
            <a:ext cx="1188937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Israa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Elmorsy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Waleed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Moneir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Ahmed I. Saleh, Abeer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Twakol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Khalil,Optimized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fine-tuned ensemble classifier using Bayesian optimization for the detection of ear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diseases,Computers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Biology and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Medicine,Volume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191,2025,110092,ISSN 0010-4825,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https://doi.org/10.1016/j.compbiomed.2025.110092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Jacqueline H. Stephens, Phong Phu Nguyen, Amanda Machell, Linnett Sanchez, Eng H. Ooi, A. Simon Carney, Trent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Lewis,A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multimodal machine learning algorithm improved diagnostic accuracy for otitis media in a school aged Aboriginal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population,Journal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Biomedical Informatics,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164,2025,104801,ISSN 1532-0464,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https://doi.org/10.1016/j.jbi.2025.104801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Demircan, F., Ekinci, M. &amp; Cömert, Z. Enhancing intra-aural disease classification with attention-based deep learning models.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Applications,Vol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6601–6616 (2025).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https://doi.org/10.1007/s00521-025-10990-4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M. Mehedi, M. S. Hanif, M. Bilal, M. T.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Vellingiri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Palaniswamy, "Artificial Intelligence With Deep Learning Based Automated Ear Infection Detection," in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48335-48348, 2024,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10.1109/ACCESS.2024.3383835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S. J.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Mambou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Maresova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 Kuca, and O.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Krejcar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"Automated Detection of Middle Ear Abnormalities Using Deep Convolutional Neural Networks", IEEE Access, 12, 2024 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https://ieee-dataport.org/documents/otitis-media-otoscopic-image-dataset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M.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Yagmurcu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O. Polat, "Classification of Ear Diseases from Otoscopic Images Using DenseNet121 and Grow-and-Learn Network“, IEEE Transactions on Instrumentation and Measurement, 74, 2025,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https://ieeexplore.ieee.org/document/11017039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18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3F8B-5557-7694-63E2-D27A8110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7F9B-0F83-654E-97EB-D1AA78AA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1761"/>
            <a:ext cx="10058400" cy="100991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840D7-7040-39CF-4254-4FEF896B5D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0175F-9A23-9D97-424D-D9A49823D7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8F138C8-BD2B-C55C-49A1-601586F57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2623" y="2080465"/>
            <a:ext cx="1188937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R. M. A. H. Rony, F. Fatema, A. K. M.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Raiaan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al., "Artificial intelligence-driven advancements in otitis media diagnosis: a systematic review," IEEE Access, vol. 12, pp. 99282–99307, 2024 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https://figshare.com/articles/dataset/Ear_imagery_database/11886630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R.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Yokananth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V.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Gosula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OtoVision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Bridging machine learning and edge computing for effective and affordable ear disease diagnosis", Neural Computing and Applications, vol. 37, no. 3, 2025,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https://doi.org/10.1007/s00521-024-10426-5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[9] N.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Ouattassi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Maaroufi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 Slaoui, T. B.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Andaloussi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Zarghili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M. N. El Amine El Alami, "Middle ear-acquired cholesteatoma diagnosis based on CT scan image mining using supervised machine learning models",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Beni-Suef University Journal of Basic and Applied Sciences, vol. 13, 2024,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https://doi.org/10.1186/s43088-024-00534-5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A. Sharma, R. Gupta, L. Wang, “Explainable Deep Learning Framework for Otoscopic Image Classification,” IEEE Transactions on Medical Imaging, vol. 44, no. 3, pp. 1123–1135, 2025.DOI: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https://doi.org/10.1109/TMI.2025.11023456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Singh, M. Kaur, T. Chen, “Hybrid Vision Transformer and CNN for Middle Ear Disease Detection,” Neural Computing &amp; Applications, Springer, 2026.DOI: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https://doi.org/10.1007/s00521-026-09234-1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Alvarez, K. Tanaka, S. Patel, “Multimodal AI for Pediatric Otitis Media Diagnosis Using Otoscopy and Symptom Data,” Computers in Biology and Medicine, ScienceDirect, vol. 176, 2025, Article 107456.DOI: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https://doi.org/10.1016/j.compbiomed.2025.107456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UCI Machine Learning Repository, “UCI Otoscopic Image Dataset,” Kaggle Dataset Repository, 2023. [Online]. Available: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https://www.kaggle.com/datasets/ucimachinelearning/otoscopic-image-dataset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18-Sep-2025].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276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70" name="Google Shape;170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Any questions?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Mini Project (ISP67)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2788</Words>
  <Application>Microsoft Office PowerPoint</Application>
  <PresentationFormat>Widescreen</PresentationFormat>
  <Paragraphs>290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Retrospect</vt:lpstr>
      <vt:lpstr>  “An Explainable AI Framework for Ear Disease Classification Using Otoscopic Images.”</vt:lpstr>
      <vt:lpstr>Introduction</vt:lpstr>
      <vt:lpstr>Motivation and Scope</vt:lpstr>
      <vt:lpstr>Challenges and Issues</vt:lpstr>
      <vt:lpstr>Problem Statement</vt:lpstr>
      <vt:lpstr>Objective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Methodology/Design</vt:lpstr>
      <vt:lpstr>Methodology/Design</vt:lpstr>
      <vt:lpstr>RESULTS AND DISCUSSIONS</vt:lpstr>
      <vt:lpstr>CONCLUSION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BN Ramesh OBS/OBI</cp:lastModifiedBy>
  <cp:revision>37</cp:revision>
  <cp:lastPrinted>2026-03-02T12:12:00Z</cp:lastPrinted>
  <dcterms:created xsi:type="dcterms:W3CDTF">2020-02-04T09:15:24Z</dcterms:created>
  <dcterms:modified xsi:type="dcterms:W3CDTF">2026-06-10T11:09:28Z</dcterms:modified>
</cp:coreProperties>
</file>